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2011680" cy="594360"/>
          </a:xfrm>
          <a:prstGeom prst="rect">
            <a:avLst/>
          </a:prstGeom>
          <a:solidFill>
            <a:srgbClr val="12305A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 MALAYA  |  FSKTM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FYP1 Proposal Defense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944368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Aliff Huzaiman bin Kamal Azwan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374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No: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3374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22002691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685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3685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Asmiza binti Abdul Sani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995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Science (Software Engineering)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306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4306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&amp; Information Technology (FSKTM)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8229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499616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499616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9961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149961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76272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762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21762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852928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52928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529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28529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Significance of Study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529584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29584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295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" y="352958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206240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062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" y="4206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(Agile Sprints)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822960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822960"/>
            <a:ext cx="502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822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6672" y="8229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1499616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1499616"/>
            <a:ext cx="502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49961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76672" y="149961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Design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00600" y="2176272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176272"/>
            <a:ext cx="502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1762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21762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Plan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00600" y="2852928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2852928"/>
            <a:ext cx="502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8529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76672" y="28529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Collaboration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800600" y="3529584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0600" y="3529584"/>
            <a:ext cx="502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5295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76672" y="352958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Timeline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800600" y="4206240"/>
            <a:ext cx="4023360" cy="594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00600" y="4206240"/>
            <a:ext cx="502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42062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76672" y="4206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212080" cy="384048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68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Student Mobility?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programmes enable students to pursue academic exchanges, internships, and short-term study visits at partner universities worldwide.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Authority: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TDHEP (Training, Development, and Higher Education Programme) Office at FSKTM, Universiti Malaya, is responsible for administering all outbound and inbound mobility applications.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workflow is entirely manual — relying on paper forms, email chains, and physical document submission — resulting in inefficiencies, errors, and a complete absence of real-time visibility.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centralised, web-based International Student Mobility Management System to automate the entire lifecycle from application to approval, integrating OCR, automated routing, and analytics.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822960"/>
            <a:ext cx="324612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868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6656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1216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current TDHEP workflow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1783080"/>
            <a:ext cx="324612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18288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transcription &amp; email routing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2743200"/>
            <a:ext cx="324612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15000" y="27889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656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students or staff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3703320"/>
            <a:ext cx="324612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3749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6656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Capability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4096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administrative reporting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8503920" cy="123444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109728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896112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914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Transcription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12618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re-key identity data from physical documents into spreadsheets, a process that is both time-consuming and highly susceptible to human error.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78040" y="1298448"/>
            <a:ext cx="15087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298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(Wan &amp; Abdullah, 2023)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8503920" cy="123444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94560"/>
            <a:ext cx="10972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267712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286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Application Routing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26334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are forwarded via unstructured email threads with no defined escalation paths. When an approver is unavailable, submissions stall indefinitely with no notification mechanism.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2670048"/>
            <a:ext cx="150876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670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(TDHEP Office Interview, 2024)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8503920" cy="123444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66160"/>
            <a:ext cx="10972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639312"/>
            <a:ext cx="5029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Centralised Reporting Dashboard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7280" y="40050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lack a centralised platform to monitor application statuses, track demographic trends, or generate routine reports, making evidence-based decision-making practically infeasible.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4041648"/>
            <a:ext cx="15087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(Subramaniam et al., 2024)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1261872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41248"/>
            <a:ext cx="822960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41248"/>
            <a:ext cx="822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93268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centralised web portal effectively streamline the international student mobility application process and eliminate manual document transcription errors at FSKTM?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61872" y="1645920"/>
            <a:ext cx="740664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16459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Addresses: P1 — Manual transcription &amp; P3 — Lack of centralised management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231136"/>
            <a:ext cx="8503920" cy="1261872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31136"/>
            <a:ext cx="822960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31136"/>
            <a:ext cx="822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2322576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structured, automated multi-stage routing engine enforce accountability and prevent application bottlenecks in the mobility approval workflow?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61872" y="3035808"/>
            <a:ext cx="740664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0358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Addresses: P2 — Unstructured routing &amp; absence of escalation mechanisms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8503920" cy="1261872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21024"/>
            <a:ext cx="822960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21024"/>
            <a:ext cx="822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3712464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a real-time demographic analytics dashboard enhance administrative visibility and support evidence-based decision-making for mobility programme management?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61872" y="4425696"/>
            <a:ext cx="740664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4256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Addresses: P3 — Absence of reporting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41248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841248"/>
            <a:ext cx="420624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 ·  Streamline the Application Process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4358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streamline the mobility application process by centralising submissions via a secure, role-based web portal, eliminating reliance on paper forms and email chains.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84448" y="2286000"/>
            <a:ext cx="804672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2860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27448" y="841248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841248"/>
            <a:ext cx="420624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841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 ·  Minimise Manual Transcription Errors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124358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minimise manual transcription errors by automating identity data extraction through Azure AI Document Intelligence (OCR), with a built-in human-in-the-loop validation step.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19288" y="2286000"/>
            <a:ext cx="804672" cy="2194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22860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92608" y="2761488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761488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7614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 ·  Enforce Accountability via Automated Routing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16382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enforce accountability by implementing a strict, automated 3-stage routing engine that governs approvals across Student, Academic Advisor, and TDHEP Admin roles with escalation notifications.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84448" y="4206240"/>
            <a:ext cx="804672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42062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27448" y="2761488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2761488"/>
            <a:ext cx="420624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7614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 ·  Enhance Administrative Visibility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316382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enhance administrative visibility by providing a real-time demographic analytics dashboard powered by React Recharts, enabling data-driven reporting on mobility programme trends.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19288" y="4206240"/>
            <a:ext cx="80467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42062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Study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22960"/>
            <a:ext cx="5120640" cy="384048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822960"/>
            <a:ext cx="51206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229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(3 Roles)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4996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Academic Advisors, TDHEP Administrators — each with distinct dashboards and action permissions.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93852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Types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1579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logic for both Short-Term (e.g., summer schools, cultural exchanges) and Long-Term (e.g., semester exchanges, internships) programmes.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59689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with Human-in-the-loop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Document Intelligence extracts identity data from uploaded documents; a manual validation step allows staff to review and override extracted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3-Stage Routing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progress through a structured approval chain: Student → Academic Advisor → TDHEP Admin, with automated email notifications via MailKit.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1330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Recharts-powered dashboard displaying demographic data, application statuses, and mobility trends for TDHEP Admins.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822960"/>
            <a:ext cx="3273552" cy="3840480"/>
          </a:xfrm>
          <a:prstGeom prst="rect">
            <a:avLst/>
          </a:prstGeom>
          <a:solidFill>
            <a:srgbClr val="FFF1F2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822960"/>
            <a:ext cx="3273552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822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Out of Scope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1298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(foreign) student mobility management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8836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aid or scholarship processing modules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(iOS/Android) development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305409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external university SIS platforms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6393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or post-programme outcome tracking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the Study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41248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841248"/>
            <a:ext cx="640080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932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2608" y="14356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24128" y="914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Application Experience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1298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gain a transparent, trackable application portal with real-time status updates, reducing uncertainty and eliminating the need to contact the TDHEP Office manually for updates.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7448" y="841248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841248"/>
            <a:ext cx="640080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932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7448" y="14356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Advisors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58968" y="914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Endorsement Workflow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58968" y="1298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receive structured, automated notifications for pending endorsements and can review applications within a dedicated portal, eliminating ad-hoc email coordination.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2779776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779776"/>
            <a:ext cx="640080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2608" y="33741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TDHEP Administrators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24128" y="28529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&amp; Data-Driven Insights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236976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benefit from a centralised management dashboard, automated document routing, and real-time analytics to support strategic programme planning and accreditation reporting.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2779776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2779776"/>
            <a:ext cx="640080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27448" y="33741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58968" y="28529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Literature Gap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58968" y="3236976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contributes a localized, context-aware mobility management solution for Malaysian HEIs, addressing a documented gap in existing systems (MoveON, Terra Dotta, SMPMS) regarding OCR integration and visual analytics.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822960"/>
          <a:ext cx="8558784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280160"/>
                <a:gridCol w="1371600"/>
                <a:gridCol w="1280160"/>
                <a:gridCol w="151790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Origin / Context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OCR Support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Routing Engine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Visual Analytics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Localisation (MY)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MoveON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Euro-centric HEI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✘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Limited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✘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Terra Dotta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US-centric (High Cost)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✘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✘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UTHM SMPMS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Malaysia (Localised)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✘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✘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</a:rPr>
                        <a:t>Proposed 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</a:rPr>
                        <a:t>FSKTM / Malaysia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✔ Azure OCR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✔ 3-Stage Auto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✔ React Charts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✔ Full (UM/FSKTM)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92608" y="822960"/>
            <a:ext cx="8558784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755648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Context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01568" y="822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81728" y="822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3328" y="822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33488" y="82296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(MY)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2608" y="3246120"/>
            <a:ext cx="8558784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" y="3337560"/>
            <a:ext cx="8558784" cy="1389888"/>
          </a:xfrm>
          <a:prstGeom prst="rect">
            <a:avLst/>
          </a:prstGeom>
          <a:solidFill>
            <a:srgbClr val="EFF6FF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71246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mobility management system simultaneously addresses: (1) automated OCR-based data extraction with human-in-the-loop validation, (2) a structured multi-stage approval routing engine with role-based escalation, and (3) a real-time visual analytics dashboard — within a Malaysian HEI context. 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bridges that gap by combining Azure AI Document Intelligence, an ASP.NET Core routing engine, and a React/Recharts dashboard, localised for Universiti Malaya's FSKTM-TDHEP operational context.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— Agile SDLC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Academic papers, system comparisons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TDHEP Office Interview (2024) — Requirements elicitation, schema validation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Alumni Interview — UX needs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572768"/>
            <a:ext cx="85587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5727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1572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15727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27248" y="1572768"/>
            <a:ext cx="5724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 &amp; Deliverables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1920240"/>
            <a:ext cx="8558784" cy="347472"/>
          </a:xfrm>
          <a:prstGeom prst="rect">
            <a:avLst/>
          </a:prstGeom>
          <a:solidFill>
            <a:srgbClr val="F0F6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9202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8408" y="192024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19202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Requirements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72968" y="192024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review; TDHEP Office interview; requirements elicitation (FRs/NFRs); system scope definition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2267712"/>
            <a:ext cx="8558784" cy="347472"/>
          </a:xfrm>
          <a:prstGeom prst="rect">
            <a:avLst/>
          </a:prstGeom>
          <a:solidFill>
            <a:srgbClr val="E8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2677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8408" y="226771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22677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72968" y="2267712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Diagrams; ERD; Sequence Diagrams; UI/UX wireframes; technology stack selection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2608" y="2615184"/>
            <a:ext cx="8558784" cy="347472"/>
          </a:xfrm>
          <a:prstGeom prst="rect">
            <a:avLst/>
          </a:prstGeom>
          <a:solidFill>
            <a:srgbClr val="F0F6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2615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261518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83080" y="261518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 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72968" y="2615184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scaffolding (React/ASP.NET Core); database schema (PostgreSQL/JSONB); user authentication (JWT/RBAC)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2608" y="2962656"/>
            <a:ext cx="8558784" cy="347472"/>
          </a:xfrm>
          <a:prstGeom prst="rect">
            <a:avLst/>
          </a:prstGeom>
          <a:solidFill>
            <a:srgbClr val="E8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29626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8408" y="296265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626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 II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72968" y="2962656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module integration (Azure AI Doc Intelligence); human-in-the-loop validation UI; OCR data mapping to application form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" y="3310128"/>
            <a:ext cx="8558784" cy="347472"/>
          </a:xfrm>
          <a:prstGeom prst="rect">
            <a:avLst/>
          </a:prstGeom>
          <a:solidFill>
            <a:srgbClr val="F0F6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33101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8408" y="33101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83080" y="331012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 III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72968" y="3310128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automated routing engine; MailKit email notification service; role-based dashboards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2608" y="3657600"/>
            <a:ext cx="8558784" cy="347472"/>
          </a:xfrm>
          <a:prstGeom prst="rect">
            <a:avLst/>
          </a:prstGeom>
          <a:solidFill>
            <a:srgbClr val="E8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36576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78408" y="365760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783080" y="36576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Integration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172968" y="36576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analytics dashboard (Recharts); short-term vs long-term programme logic; end-to-end integration testing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2608" y="4005072"/>
            <a:ext cx="8558784" cy="347472"/>
          </a:xfrm>
          <a:prstGeom prst="rect">
            <a:avLst/>
          </a:prstGeom>
          <a:solidFill>
            <a:srgbClr val="F0F6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" y="40050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8408" y="400507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783080" y="4005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172968" y="4005072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testing; UAT with TDHEP Office; bug fixes; stakeholder review and schema validation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92608" y="4352544"/>
            <a:ext cx="8558784" cy="347472"/>
          </a:xfrm>
          <a:prstGeom prst="rect">
            <a:avLst/>
          </a:prstGeom>
          <a:solidFill>
            <a:srgbClr val="E8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" y="43525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78408" y="435254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15–16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783080" y="435254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72968" y="4352544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optimisation; documentation (SRS, SDD); FYP2 report preparation and defense submission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22960"/>
            <a:ext cx="4846320" cy="388620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822960"/>
            <a:ext cx="48463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22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(FRs)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5029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618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1261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1463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authenticate users via role-based JWT tokens distinguishing Students, Academic Advisors, and TDHEP Admins.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47472" y="1801368"/>
            <a:ext cx="5029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8013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14400" y="18013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Submission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2002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shall submit mobility applications through a structured web form supporting document upload and programme-type selection.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47472" y="2340864"/>
            <a:ext cx="5029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40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23408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Data Extraction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25420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invoke Azure AI Document Intelligence to extract identity fields from uploaded documents, presenting results for human-in-the-loop validation.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47472" y="2880360"/>
            <a:ext cx="5029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803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14400" y="28803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Routing Engine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3081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applications shall be automatically routed through a 3-stage sequential workflow with automated email notifications at each stage.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47472" y="3419856"/>
            <a:ext cx="5029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198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4400" y="3419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4400" y="36210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shall be able to monitor the real-time status of their applications through a personal dashboard.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47472" y="3959352"/>
            <a:ext cx="5029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959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14400" y="39593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" y="4160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TDHEP Admins shall have access to a dashboard displaying mobility trends, demographic breakdowns, and application statistics via interactive charts.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303520" y="822960"/>
            <a:ext cx="3547872" cy="388620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03520" y="822960"/>
            <a:ext cx="3547872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822960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(NFRs)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58384" y="1261872"/>
            <a:ext cx="566928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58384" y="12618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89320" y="1261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8932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 shall not exceed 2 seconds under normal load conditions (≤50 concurrent users).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58384" y="1801368"/>
            <a:ext cx="566928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18013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989320" y="1801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89320" y="2002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shall conform to WCAG 2.1 Level AA accessibility guidelines. Navigation to any feature shall require no more than 3 clicks.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58384" y="2340864"/>
            <a:ext cx="566928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58384" y="23408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989320" y="23408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89320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transmissions shall be encrypted via HTTPS/TLS. User passwords shall be hashed using BCrypt.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58384" y="2880360"/>
            <a:ext cx="566928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58384" y="2880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89320" y="2880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89320" y="3081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maintain ≥99% uptime during business hours, with automated error logging.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58384" y="3419856"/>
            <a:ext cx="566928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58384" y="34198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989320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989320" y="3621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PostgreSQL JSONB schema shall support schema-less OCR result storage, enabling future field additions without migration.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358384" y="3959352"/>
            <a:ext cx="566928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58384" y="3959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89320" y="39593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89320" y="4160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back-end shall follow Clean Architecture principles (Domain, Application, Infrastructure, Presentation layers) for separation of concerns.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4023360" cy="15087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9768" y="1124712"/>
            <a:ext cx="3803904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PLACEHOLDER FOR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 diagram: React (Vite) frontend → ASP.NET Core 8 Clean Architecture API → PostgreSQL database, with Azure AI Document Intelligence and MailKit as external service integrations.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4023360" cy="15087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10328" y="1124712"/>
            <a:ext cx="3803904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PLACEHOLDER FOR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Use Case Diagram showing 3 actors (Student, Academic Advisor, TDHEP Admin) and their associated use cases: Submit Application, Validate OCR, Endorse/Reject, Final Approval, View Dashboard.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715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(ERD)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90088"/>
            <a:ext cx="4023360" cy="16916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29768" y="3063240"/>
            <a:ext cx="3803904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PLACEHOLDER FOR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showing core entities: User, Application, Programme, Document, OCR_Result (JSONB), RoutingStage, Notification — with cardinality and foreign key relationships.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715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Application Routing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90088"/>
            <a:ext cx="4023360" cy="16916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910328" y="3063240"/>
            <a:ext cx="3803904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PLACEHOLDER FOR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Sequence Diagram depicting the message flow: Student submits → System invokes OCR → Admin validates → Routing Engine escalates to Academic Advisor → TDHEP Admin final approval → Notification sent.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22960"/>
            <a:ext cx="4206240" cy="182880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822960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 ·  React 18 (Vite)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20700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(Material UI) — Component library for role-based dashboards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Interactive demographic analytics charts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— Client-side routing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— REST API communication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822960"/>
            <a:ext cx="4206240" cy="182880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822960"/>
            <a:ext cx="42062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 ·  ASP.NET Core 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120700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(Domain → Application → Infrastructure → Presentation)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 — CQRS pattern for command/query separation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— ORM for PostgreSQL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Authentication — Role-based access control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816352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2816352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163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PostgreSQL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" y="32004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columns for schema-flexible OCR result storage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 for Users, Applications, Routing Stages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 for dashboard analytics performance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27448" y="2816352"/>
            <a:ext cx="4206240" cy="173736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816352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8163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 ·  Azure &amp; MailKit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32004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Document Intelligence — OCR field extraction from uploaded IDs/transcripts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MailKit — SMTP email notifications for routing stage transitions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Collaboration Initiative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22960"/>
            <a:ext cx="5074920" cy="3886200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87782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with FSKTM TDHEP Office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1261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 Interview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157276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interview was conducted with TDHEP Office staff to document the current manual workflow, identify pain points, and derive functional requirements.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" y="21031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(TDHEP Office Interview, 2024)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23591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267004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PostgreSQL schema (entities, relationships, JSONB OCR fields) was reviewed and validated with the TDHEP Office to ensure it accurately reflects operational data needs.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" y="32004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 Review Session, 2024)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3456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34564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Alumni Interview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" y="376732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interviews with student alumni who participated in mobility programmes were conducted to capture end-user UX requirements and application pain points.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42976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(Alumni Interview, 2024)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32120" y="822960"/>
            <a:ext cx="3319272" cy="1828800"/>
          </a:xfrm>
          <a:prstGeom prst="rect">
            <a:avLst/>
          </a:prstGeom>
          <a:solidFill>
            <a:srgbClr val="FEF3C7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822960"/>
            <a:ext cx="331927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82296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Physical Evidence Required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77840" y="123444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PLACEHOLDER FOR DIAGRAM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scanned copy of official TDHEP Office interview minutes or signed stakeholder collaboration letter here.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2834640"/>
            <a:ext cx="3319272" cy="1691640"/>
          </a:xfrm>
          <a:prstGeom prst="rect">
            <a:avLst/>
          </a:prstGeom>
          <a:solidFill>
            <a:srgbClr val="FEF3C7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32120" y="2834640"/>
            <a:ext cx="331927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83464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Photo / Quote Evidence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32461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PLACEHOLDER FOR DIAGRAM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photograph from the interview session or a direct quote from TDHEP staff confirming the pain points identified.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Project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04672"/>
            <a:ext cx="4206240" cy="713232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804672"/>
            <a:ext cx="41148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80467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850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Web System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deployed, role-based web application supporting the end-to-end mobility application lifecycle.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27448" y="804672"/>
            <a:ext cx="4206240" cy="713232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804672"/>
            <a:ext cx="411480" cy="7132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80467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0368" y="850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OCR Module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30368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Azure OCR pipeline achieving ≥90% field extraction accuracy, validated against real TDHEP documents.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1609344"/>
            <a:ext cx="4206240" cy="713232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1609344"/>
            <a:ext cx="41148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16093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16550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Routing Engine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" y="1901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zero-human-intervention 3-stage routing workflow with ≤15-minute notification delivery time.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27448" y="1609344"/>
            <a:ext cx="4206240" cy="713232"/>
          </a:xfrm>
          <a:prstGeom prst="rect">
            <a:avLst/>
          </a:prstGeom>
          <a:solidFill>
            <a:srgbClr val="F0F6FA"/>
          </a:solidFill>
          <a:ln w="6350">
            <a:solidFill>
              <a:srgbClr val="DA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1609344"/>
            <a:ext cx="411480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16093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16550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30368" y="1901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Recharts dashboard enabling demographic and trend analysis for administrative decision-making.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(Gantt Chart)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" y="2761488"/>
            <a:ext cx="8558784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02336" y="2834640"/>
            <a:ext cx="8339328" cy="1773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PLACEHOLDER FOR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spanning Weeks 1–16 across 8 sprints. Rows: Planning, Analysis &amp; Design, OCR Development, Routing Engine, Dashboard, Testing &amp; UAT, Finalisation. Columns: Week 1–16, with coloured bars indicating task duration and sprint boundaries.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9264"/>
            <a:ext cx="10515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9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TDHEP Office at FSKTM currently operates a fully manual mobility management process, resulting in transcription errors, unstructured routing, and zero real-time visibility for students and administrators.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29384"/>
            <a:ext cx="10515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93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0370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International Student Mobility Management System addresses all three identified problems through a centralised web portal, Azure OCR integration, automated 3-stage routing, and a real-time analytics dashboard.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889504"/>
            <a:ext cx="10515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16382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follows an Agile SDLC with structured 2-week sprints, grounded in direct stakeholder collaboration with the TDHEP Office and student alumni interviews.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849624"/>
            <a:ext cx="10515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1239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bridges a documented gap in Malaysian HEI mobility management literature by combining OCR automation, role-based workflow enforcement, and visual analytics in a single localised platform.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questions are welcome.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Mobility Management System  |  Muhammad Aliff Huzaiman  |  22002691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8229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Subramaniam, P., Razak, R. A., &amp; Hamid, N. A. (2024). Administrative dashboards and data-driven decision-making in Malaysian higher education institutions. Journal of Information Systems and Technology Management, 21(1), 45–62.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298448"/>
            <a:ext cx="85039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335024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Wan, W. A. R., &amp; Abdullah, N. (2023). The impact of manual data transcription on administrative efficiency in Malaysian public universities. Malaysian Journal of Computer Science, 36(2), 112–128.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810512"/>
            <a:ext cx="85039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84708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TDHEP Office, Faculty of Computer Science &amp; Information Technology, Universiti Malaya. (2024). Unpublished stakeholder requirements interview [Primary data source].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322576"/>
            <a:ext cx="85039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59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Microsoft Azure. (2024). Azure AI Document Intelligence documentation. Microsoft Corporation. https://learn.microsoft.com/en-us/azure/ai-services/document-intelligence/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85039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71216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Luber, S., &amp; Litwin, P. (2023). Comparative analysis of international student mobility management systems: MoveON, Terra Dotta, and open-source alternatives. International Journal of Higher Education Technology, 12(3), 88–104.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346704"/>
            <a:ext cx="85039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38328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Universiti Tun Hussein Onn Malaysia. (2022). Student Mobility and Programme Management System (SMPMS) — System documentation and evaluation report [Institutional report].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858768"/>
            <a:ext cx="85039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95344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Fowler, M. (2018). Refactoring: Improving the design of existing code (2nd ed.). Addison-Wesley.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4370832"/>
            <a:ext cx="85039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4074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Martin, R. C. (2017). Clean architecture: A craftsman's guide to software structure and design. Prentice Hall.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Student Mobility Management System – FYP1 Proposal Defense</dc:title>
  <dc:subject>PptxGenJS Presentation</dc:subject>
  <dc:creator>Muhammad Aliff Huzaiman bin Kamal Azwan</dc:creator>
  <cp:lastModifiedBy>Muhammad Aliff Huzaiman bin Kamal Azwan</cp:lastModifiedBy>
  <cp:revision>1</cp:revision>
  <dcterms:created xsi:type="dcterms:W3CDTF">2026-06-03T17:08:04Z</dcterms:created>
  <dcterms:modified xsi:type="dcterms:W3CDTF">2026-06-03T17:08:04Z</dcterms:modified>
</cp:coreProperties>
</file>